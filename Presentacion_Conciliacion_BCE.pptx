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6858000" cy="9144000"/>
  <p:defaultTextStyle>
    <a:defPPr>
      <a:defRPr lang="es-E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CA1"/>
    <a:srgbClr val="6F7B90"/>
    <a:srgbClr val="7F7FBD"/>
    <a:srgbClr val="EB6C5C"/>
    <a:srgbClr val="FFD061"/>
    <a:srgbClr val="A0C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26"/>
    <p:restoredTop sz="94680"/>
  </p:normalViewPr>
  <p:slideViewPr>
    <p:cSldViewPr snapToGrid="0" snapToObjects="1">
      <p:cViewPr varScale="1">
        <p:scale>
          <a:sx n="141" d="100"/>
          <a:sy n="141" d="100"/>
        </p:scale>
        <p:origin x="132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81A377B-45D6-446B-8944-F02F5BC2F7D7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E46B655-DFF1-4F0A-ABA7-9D4849F4A747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6CDBD-53D0-409B-8CA4-2747FF7A7869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8957DA-F075-42A6-B597-B0FED9AE456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59F43-5552-49A7-B89F-8D03AF6D1A05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4E6E7-150A-41F6-BF55-0B0E0C9F3E3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C4D4D-B77C-4AC2-BF8E-790B6D3018E6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676450-9C0A-4E7E-BF97-121A888A333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4D5658-6B39-412A-A0AB-3FF62C39060E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EA559-1165-4CC6-94F7-339F0EE62A9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B4B14-FCA7-4A83-B2DA-C3A58958D557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A2C38-1AAB-4101-9BDC-137E818C108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63D09-A3CC-4872-B988-ECDDC1034827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FB8B7-97AD-491A-BF67-21335A51723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32058-5538-4AF5-B2C2-958B6896D232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A2116C-C071-494A-92A0-C7212382A48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50C3D-0A6A-4B93-ABB3-38FEABB6D919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7E55E-EED1-4939-B229-693DF9B7F5C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77E01-5D70-4630-9E3B-47A18BA6F928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F4A9D-1D89-496D-AAA3-5780EB06398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FAF1-2C3F-45F4-AD25-F1CE66D5BCEC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22429-EFFC-488B-9AAD-94AE404AC07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EFC53-A978-4008-B941-E550E30B9656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5877C-462C-4A23-955C-6A78AEFB590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C"/>
              <a:t>Clic para editar título</a:t>
            </a:r>
            <a:endParaRPr lang="es-ES" altLang="es-EC"/>
          </a:p>
        </p:txBody>
      </p:sp>
      <p:sp>
        <p:nvSpPr>
          <p:cNvPr id="1027" name="Marcador de texto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C"/>
              <a:t>Haga clic para modificar el estilo de texto del patrón</a:t>
            </a:r>
          </a:p>
          <a:p>
            <a:pPr lvl="1"/>
            <a:r>
              <a:rPr lang="es-ES_tradnl" altLang="es-EC"/>
              <a:t>Segundo nivel</a:t>
            </a:r>
          </a:p>
          <a:p>
            <a:pPr lvl="2"/>
            <a:r>
              <a:rPr lang="es-ES_tradnl" altLang="es-EC"/>
              <a:t>Tercer nivel</a:t>
            </a:r>
          </a:p>
          <a:p>
            <a:pPr lvl="3"/>
            <a:r>
              <a:rPr lang="es-ES_tradnl" altLang="es-EC"/>
              <a:t>Cuarto nivel</a:t>
            </a:r>
          </a:p>
          <a:p>
            <a:pPr lvl="4"/>
            <a:r>
              <a:rPr lang="es-ES_tradnl" altLang="es-EC"/>
              <a:t>Quinto nivel</a:t>
            </a:r>
            <a:endParaRPr lang="es-ES" alt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AE8E66E-199F-438E-B2C0-998A9A6C6D84}" type="datetimeFigureOut">
              <a:rPr lang="es-ES"/>
              <a:pPr>
                <a:defRPr/>
              </a:pPr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92374FC1-89D2-441A-B60C-B530D17B8D11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72969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3A70"/>
                </a:solidFill>
                <a:latin typeface="Calibri"/>
              </a:rPr>
              <a:t>AUTOMATIZACIÓN DE LA CONCILIACIÓN</a:t>
            </a:r>
          </a:p>
          <a:p>
            <a:r>
              <a:rPr sz="3000" b="1" i="0">
                <a:solidFill>
                  <a:srgbClr val="003A70"/>
                </a:solidFill>
                <a:latin typeface="Calibri"/>
              </a:rPr>
              <a:t>DE DEUDA EXTERNA PÚBLICA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88920"/>
            <a:ext cx="72969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0072CE"/>
                </a:solidFill>
                <a:latin typeface="Calibri"/>
              </a:rPr>
              <a:t>Cruce mensual BCE ↔ MEF · desarrollado en Claude Code</a:t>
            </a:r>
          </a:p>
          <a:p>
            <a:r>
              <a:rPr sz="1300" b="0" i="0">
                <a:solidFill>
                  <a:srgbClr val="58595B"/>
                </a:solidFill>
                <a:latin typeface="Calibri"/>
              </a:rPr>
              <a:t>Subgerencia de Servicios Financieros Internacionales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El problema: la conciliación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Situación antes de la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7845552" cy="3177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Cada mes se cruzan los pagos de deuda externa entre el MEF y el BCE (Agente Oficial).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Se comparan 6 rubros por cada acreedor: desembolsos, amortizaciones, intereses, comisiones, condonados e interés por mora.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Revisión préstamo por préstamo en archivos Excel extensos, sumando y cuadrando valor por valor, uno a uno.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●  Toma en promedio 4 horas mensuales, con alto riesgo de error humano.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Además, había que redactar manualmente el oficio de respuesta (Quipux).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ANTES · Conciliación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Así se hacía cada mes</a:t>
            </a:r>
          </a:p>
        </p:txBody>
      </p:sp>
      <p:pic>
        <p:nvPicPr>
          <p:cNvPr id="5" name="Picture 4" descr="antes_exce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138160" cy="2616731"/>
          </a:xfrm>
          <a:prstGeom prst="rect">
            <a:avLst/>
          </a:prstGeom>
          <a:ln w="15875">
            <a:solidFill>
              <a:srgbClr val="C0392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02920" y="3960899"/>
            <a:ext cx="813816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Revisar y sumar préstamo por préstamo en Excel · ≈ 4 horas · alto riesgo de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DESPUÉS · Conciliación automatizada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Con el sistema</a:t>
            </a:r>
          </a:p>
        </p:txBody>
      </p:sp>
      <p:pic>
        <p:nvPicPr>
          <p:cNvPr id="5" name="Picture 4" descr="s2b_concil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234440"/>
            <a:ext cx="5770879" cy="3246120"/>
          </a:xfrm>
          <a:prstGeom prst="rect">
            <a:avLst/>
          </a:prstGeom>
          <a:ln w="15875">
            <a:solidFill>
              <a:srgbClr val="1E824C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686560" y="4590288"/>
            <a:ext cx="5770879" cy="502920"/>
          </a:xfrm>
          <a:prstGeom prst="roundRect">
            <a:avLst/>
          </a:prstGeom>
          <a:solidFill>
            <a:srgbClr val="1E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Cruce y verificación automáticos · minutos · exacto al centavo · señala lo que no cuadra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El impacto conseguido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8595B"/>
                </a:solidFill>
                <a:latin typeface="Calibri"/>
              </a:rPr>
              <a:t>ANTES (manual)</a:t>
            </a:r>
          </a:p>
          <a:p>
            <a:pPr algn="ctr"/>
            <a:r>
              <a:rPr sz="4400" b="1" i="0">
                <a:solidFill>
                  <a:srgbClr val="C0392B"/>
                </a:solidFill>
                <a:latin typeface="Calibri"/>
              </a:rPr>
              <a:t>≈ 4 horas</a:t>
            </a:r>
          </a:p>
          <a:p>
            <a:pPr algn="ctr"/>
            <a:r>
              <a:rPr sz="1300" b="0" i="0">
                <a:solidFill>
                  <a:srgbClr val="8A8C8F"/>
                </a:solidFill>
                <a:latin typeface="Calibri"/>
              </a:rPr>
              <a:t>cada mes, revisando valor por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8848" y="1554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8595B"/>
                </a:solidFill>
                <a:latin typeface="Calibri"/>
              </a:rPr>
              <a:t>AHORA (automatizado)</a:t>
            </a:r>
          </a:p>
          <a:p>
            <a:pPr algn="ctr"/>
            <a:r>
              <a:rPr sz="4400" b="1" i="0">
                <a:solidFill>
                  <a:srgbClr val="1E824C"/>
                </a:solidFill>
                <a:latin typeface="Calibri"/>
              </a:rPr>
              <a:t>Minutos</a:t>
            </a:r>
          </a:p>
          <a:p>
            <a:pPr algn="ctr"/>
            <a:r>
              <a:rPr sz="1300" b="0" i="0">
                <a:solidFill>
                  <a:srgbClr val="8A8C8F"/>
                </a:solidFill>
                <a:latin typeface="Calibri"/>
              </a:rPr>
              <a:t>cruce y verificación automáticos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69080"/>
            <a:ext cx="78455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03A70"/>
                </a:solidFill>
                <a:latin typeface="Calibri"/>
              </a:rPr>
              <a:t>Cálculo exacto al centavo · identifica el préstamo que no cuadra · genera el oficio de respuesta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La solución: un sistema en 4 pasos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783080" cy="2103120"/>
          </a:xfrm>
          <a:prstGeom prst="roundRect">
            <a:avLst/>
          </a:prstGeom>
          <a:solidFill>
            <a:srgbClr val="F3F6FB"/>
          </a:solidFill>
          <a:ln w="12700">
            <a:solidFill>
              <a:srgbClr val="007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000" b="1" i="0">
                <a:solidFill>
                  <a:srgbClr val="C8961B"/>
                </a:solidFill>
                <a:latin typeface="Calibri"/>
              </a:rPr>
              <a:t>I</a:t>
            </a:r>
          </a:p>
          <a:p>
            <a:pPr algn="ctr"/>
            <a:r>
              <a:rPr sz="1350" b="1" i="0">
                <a:solidFill>
                  <a:srgbClr val="003A70"/>
                </a:solidFill>
                <a:latin typeface="Calibri"/>
              </a:rPr>
              <a:t>Recepción de Reportes</a:t>
            </a:r>
          </a:p>
          <a:p>
            <a:pPr algn="ctr"/>
            <a:r>
              <a:rPr sz="1150" b="0" i="0">
                <a:solidFill>
                  <a:srgbClr val="58595B"/>
                </a:solidFill>
                <a:latin typeface="Calibri"/>
              </a:rPr>
              <a:t>Cargar MEF + BCE (arrastrar)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5456" y="1645920"/>
            <a:ext cx="1783080" cy="2103120"/>
          </a:xfrm>
          <a:prstGeom prst="roundRect">
            <a:avLst/>
          </a:prstGeom>
          <a:solidFill>
            <a:srgbClr val="F3F6FB"/>
          </a:solidFill>
          <a:ln w="12700">
            <a:solidFill>
              <a:srgbClr val="007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000" b="1" i="0">
                <a:solidFill>
                  <a:srgbClr val="C8961B"/>
                </a:solidFill>
                <a:latin typeface="Calibri"/>
              </a:rPr>
              <a:t>II</a:t>
            </a:r>
          </a:p>
          <a:p>
            <a:pPr algn="ctr"/>
            <a:r>
              <a:rPr sz="1350" b="1" i="0">
                <a:solidFill>
                  <a:srgbClr val="003A70"/>
                </a:solidFill>
                <a:latin typeface="Calibri"/>
              </a:rPr>
              <a:t>Conciliación de Carteras</a:t>
            </a:r>
          </a:p>
          <a:p>
            <a:pPr algn="ctr"/>
            <a:r>
              <a:rPr sz="1150" b="0" i="0">
                <a:solidFill>
                  <a:srgbClr val="58595B"/>
                </a:solidFill>
                <a:latin typeface="Calibri"/>
              </a:rPr>
              <a:t>Matriz con semáforo y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1783080" cy="2103120"/>
          </a:xfrm>
          <a:prstGeom prst="roundRect">
            <a:avLst/>
          </a:prstGeom>
          <a:solidFill>
            <a:srgbClr val="F3F6FB"/>
          </a:solidFill>
          <a:ln w="12700">
            <a:solidFill>
              <a:srgbClr val="007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000" b="1" i="0">
                <a:solidFill>
                  <a:srgbClr val="C8961B"/>
                </a:solidFill>
                <a:latin typeface="Calibri"/>
              </a:rPr>
              <a:t>III</a:t>
            </a:r>
          </a:p>
          <a:p>
            <a:pPr algn="ctr"/>
            <a:r>
              <a:rPr sz="1350" b="1" i="0">
                <a:solidFill>
                  <a:srgbClr val="003A70"/>
                </a:solidFill>
                <a:latin typeface="Calibri"/>
              </a:rPr>
              <a:t>Gestión de Observaciones</a:t>
            </a:r>
          </a:p>
          <a:p>
            <a:pPr algn="ctr"/>
            <a:r>
              <a:rPr sz="1150" b="0" i="0">
                <a:solidFill>
                  <a:srgbClr val="58595B"/>
                </a:solidFill>
                <a:latin typeface="Calibri"/>
              </a:rPr>
              <a:t>Resolver lo que no cuadra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1783080" cy="2103120"/>
          </a:xfrm>
          <a:prstGeom prst="roundRect">
            <a:avLst/>
          </a:prstGeom>
          <a:solidFill>
            <a:srgbClr val="F3F6FB"/>
          </a:solidFill>
          <a:ln w="12700">
            <a:solidFill>
              <a:srgbClr val="007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000" b="1" i="0">
                <a:solidFill>
                  <a:srgbClr val="C8961B"/>
                </a:solidFill>
                <a:latin typeface="Calibri"/>
              </a:rPr>
              <a:t>IV</a:t>
            </a:r>
          </a:p>
          <a:p>
            <a:pPr algn="ctr"/>
            <a:r>
              <a:rPr sz="1350" b="1" i="0">
                <a:solidFill>
                  <a:srgbClr val="003A70"/>
                </a:solidFill>
                <a:latin typeface="Calibri"/>
              </a:rPr>
              <a:t>Emisión del Oficio</a:t>
            </a:r>
          </a:p>
          <a:p>
            <a:pPr algn="ctr"/>
            <a:r>
              <a:rPr sz="1150" b="0" i="0">
                <a:solidFill>
                  <a:srgbClr val="58595B"/>
                </a:solidFill>
                <a:latin typeface="Calibri"/>
              </a:rPr>
              <a:t>Generar el Quipux de respuesta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Paso I · Recepción de Reportes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Carga inteligente</a:t>
            </a:r>
          </a:p>
        </p:txBody>
      </p:sp>
      <p:pic>
        <p:nvPicPr>
          <p:cNvPr id="5" name="Picture 4" descr="s1_c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97280"/>
            <a:ext cx="6355080" cy="3575304"/>
          </a:xfrm>
          <a:prstGeom prst="rect">
            <a:avLst/>
          </a:prstGeom>
          <a:ln w="9525">
            <a:solidFill>
              <a:srgbClr val="0072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3659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8A8C8F"/>
                </a:solidFill>
                <a:latin typeface="Calibri"/>
              </a:rPr>
              <a:t>Una sola zona: se arrastran los dos reportes (MEF y BCE); el período se detecta automáticamente.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Paso II · Conciliación de Carteras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Matriz con semáforo y total general</a:t>
            </a:r>
          </a:p>
        </p:txBody>
      </p:sp>
      <p:pic>
        <p:nvPicPr>
          <p:cNvPr id="5" name="Picture 4" descr="s2_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97280"/>
            <a:ext cx="6355080" cy="3575304"/>
          </a:xfrm>
          <a:prstGeom prst="rect">
            <a:avLst/>
          </a:prstGeom>
          <a:ln w="9525">
            <a:solidFill>
              <a:srgbClr val="0072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3659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8A8C8F"/>
                </a:solidFill>
                <a:latin typeface="Calibri"/>
              </a:rPr>
              <a:t>Matriz por cartera (MEF · BCE · Δ). Rojo = diferencia. Suma préstamo por préstamo, exacto al centavo.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Paso III · Gestión de Observaciones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Identifica el préstamo exacto que no cuadra</a:t>
            </a:r>
          </a:p>
        </p:txBody>
      </p:sp>
      <p:pic>
        <p:nvPicPr>
          <p:cNvPr id="5" name="Picture 4" descr="s3_observ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97280"/>
            <a:ext cx="6355080" cy="3575304"/>
          </a:xfrm>
          <a:prstGeom prst="rect">
            <a:avLst/>
          </a:prstGeom>
          <a:ln w="9525">
            <a:solidFill>
              <a:srgbClr val="0072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3659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8A8C8F"/>
                </a:solidFill>
                <a:latin typeface="Calibri"/>
              </a:rPr>
              <a:t>Señala el crédito (ej. BIRF-8888), lo clasifica (Pago Directo) y permite subir el respaldo y agregarlo al BCE.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Paso IV · Emisión del Oficio (Quipux)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7479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A8C8F"/>
                </a:solidFill>
                <a:latin typeface="Calibri"/>
              </a:rPr>
              <a:t>El oficio de respuesta, automático</a:t>
            </a:r>
          </a:p>
        </p:txBody>
      </p:sp>
      <p:pic>
        <p:nvPicPr>
          <p:cNvPr id="5" name="Picture 4" descr="s4_quip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97280"/>
            <a:ext cx="6355080" cy="3575304"/>
          </a:xfrm>
          <a:prstGeom prst="rect">
            <a:avLst/>
          </a:prstGeom>
          <a:ln w="9525">
            <a:solidFill>
              <a:srgbClr val="0072C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3659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8A8C8F"/>
                </a:solidFill>
                <a:latin typeface="Calibri"/>
              </a:rPr>
              <a:t>Genera el oficio cartera por cartera con la lista de copia; se copia o descarga para pegar en Quipux.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Beneficios de la automatización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7845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776"/>
                <a:gridCol w="3922776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Antes (manual)</a:t>
                      </a:r>
                    </a:p>
                  </a:txBody>
                  <a:tcPr anchor="ctr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 el sistema</a:t>
                      </a:r>
                    </a:p>
                  </a:txBody>
                  <a:tcPr anchor="ctr">
                    <a:solidFill>
                      <a:srgbClr val="003A7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≈ 4 horas cada 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E824C"/>
                          </a:solidFill>
                          <a:latin typeface="Calibri"/>
                        </a:rPr>
                        <a:t>Minutos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Riesgo de error al sumar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E824C"/>
                          </a:solidFill>
                          <a:latin typeface="Calibri"/>
                        </a:rPr>
                        <a:t>Cálculo exacto al centavo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Buscar diferencias a mano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E824C"/>
                          </a:solidFill>
                          <a:latin typeface="Calibri"/>
                        </a:rPr>
                        <a:t>Señala el crédito exacto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Redactar el oficio a mano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E824C"/>
                          </a:solidFill>
                          <a:latin typeface="Calibri"/>
                        </a:rPr>
                        <a:t>Oficio generado automáticamente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Se rompe si cambian columnas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E824C"/>
                          </a:solidFill>
                          <a:latin typeface="Calibri"/>
                        </a:rPr>
                        <a:t>Se adapta solo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457200"/>
          </a:xfrm>
          <a:prstGeom prst="rect">
            <a:avLst/>
          </a:prstGeom>
          <a:solidFill>
            <a:srgbClr val="C89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65760"/>
            <a:ext cx="7479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3A70"/>
                </a:solidFill>
                <a:latin typeface="Calibri"/>
              </a:rPr>
              <a:t>Seguridad y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7845552" cy="3177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Corre localmente en la PC (http://127.0.0.1:5001): los datos no salen a internet.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Base de datos local para el historial de conciliaciones.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Se inicia con doble clic; no requiere instalación compleja.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8595B"/>
                </a:solidFill>
                <a:latin typeface="Calibri"/>
              </a:rPr>
              <a:t>●  Identidad institucional del BCE y respaldo del código versionado.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737360"/>
            <a:ext cx="747979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003A70"/>
                </a:solidFill>
                <a:latin typeface="Calibri"/>
              </a:rPr>
              <a:t>Conciliación exacta, rápida y trazable</a:t>
            </a:r>
          </a:p>
          <a:p>
            <a:r>
              <a:rPr sz="1600" b="0" i="0">
                <a:solidFill>
                  <a:srgbClr val="58595B"/>
                </a:solidFill>
                <a:latin typeface="Calibri"/>
              </a:rPr>
              <a:t>De 4 horas mensuales a minutos, sin errores y con el oficio listo.</a:t>
            </a:r>
          </a:p>
          <a:p>
            <a:pPr>
              <a:spcBef>
                <a:spcPts val="1800"/>
              </a:spcBef>
            </a:pPr>
            <a:r>
              <a:rPr sz="2000" b="1" i="0">
                <a:solidFill>
                  <a:srgbClr val="C8961B"/>
                </a:solidFill>
                <a:latin typeface="Calibri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168</Words>
  <Application>Microsoft Office PowerPoint</Application>
  <PresentationFormat>Presentación en pantalla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Gotham Black</vt:lpstr>
      <vt:lpstr>Gotham Book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Banco Central del Ecuador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estrategia Manejo de Crisis</dc:title>
  <dc:creator>Bryan Andres Romo Arias</dc:creator>
  <cp:lastModifiedBy>Bryan Andres Romo Arias</cp:lastModifiedBy>
  <cp:revision>60</cp:revision>
  <dcterms:created xsi:type="dcterms:W3CDTF">2021-07-07T14:53:59Z</dcterms:created>
  <dcterms:modified xsi:type="dcterms:W3CDTF">2026-05-25T21:09:12Z</dcterms:modified>
</cp:coreProperties>
</file>